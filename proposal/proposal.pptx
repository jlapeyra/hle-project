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  <p:sldId id="256" r:id="rId3"/>
  </p:sldIdLst>
  <p:sldSz cx="8999538" cy="8999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2342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4966" y="1472842"/>
            <a:ext cx="7649607" cy="3133172"/>
          </a:xfrm>
        </p:spPr>
        <p:txBody>
          <a:bodyPr anchor="b"/>
          <a:lstStyle>
            <a:lvl1pPr algn="ctr">
              <a:defRPr sz="590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4942" y="4726842"/>
            <a:ext cx="6749654" cy="2172804"/>
          </a:xfrm>
        </p:spPr>
        <p:txBody>
          <a:bodyPr/>
          <a:lstStyle>
            <a:lvl1pPr marL="0" indent="0" algn="ctr">
              <a:buNone/>
              <a:defRPr sz="2362"/>
            </a:lvl1pPr>
            <a:lvl2pPr marL="449976" indent="0" algn="ctr">
              <a:buNone/>
              <a:defRPr sz="1968"/>
            </a:lvl2pPr>
            <a:lvl3pPr marL="899952" indent="0" algn="ctr">
              <a:buNone/>
              <a:defRPr sz="1772"/>
            </a:lvl3pPr>
            <a:lvl4pPr marL="1349929" indent="0" algn="ctr">
              <a:buNone/>
              <a:defRPr sz="1575"/>
            </a:lvl4pPr>
            <a:lvl5pPr marL="1799905" indent="0" algn="ctr">
              <a:buNone/>
              <a:defRPr sz="1575"/>
            </a:lvl5pPr>
            <a:lvl6pPr marL="2249881" indent="0" algn="ctr">
              <a:buNone/>
              <a:defRPr sz="1575"/>
            </a:lvl6pPr>
            <a:lvl7pPr marL="2699857" indent="0" algn="ctr">
              <a:buNone/>
              <a:defRPr sz="1575"/>
            </a:lvl7pPr>
            <a:lvl8pPr marL="3149834" indent="0" algn="ctr">
              <a:buNone/>
              <a:defRPr sz="1575"/>
            </a:lvl8pPr>
            <a:lvl9pPr marL="3599810" indent="0" algn="ctr">
              <a:buNone/>
              <a:defRPr sz="1575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221F-0904-42F1-9A6F-9B71460ACC1C}" type="datetimeFigureOut">
              <a:rPr lang="ca-ES" smtClean="0"/>
              <a:t>30/11/2025</a:t>
            </a:fld>
            <a:endParaRPr lang="ca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A9090-D38B-4D40-95F8-A1F828B0A0A7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611942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221F-0904-42F1-9A6F-9B71460ACC1C}" type="datetimeFigureOut">
              <a:rPr lang="ca-ES" smtClean="0"/>
              <a:t>30/11/2025</a:t>
            </a:fld>
            <a:endParaRPr lang="ca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A9090-D38B-4D40-95F8-A1F828B0A0A7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965634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031" y="2243638"/>
            <a:ext cx="7762102" cy="3743557"/>
          </a:xfrm>
        </p:spPr>
        <p:txBody>
          <a:bodyPr anchor="b"/>
          <a:lstStyle>
            <a:lvl1pPr>
              <a:defRPr sz="590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4031" y="6022610"/>
            <a:ext cx="7762102" cy="1968648"/>
          </a:xfrm>
        </p:spPr>
        <p:txBody>
          <a:bodyPr/>
          <a:lstStyle>
            <a:lvl1pPr marL="0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1pPr>
            <a:lvl2pPr marL="449976" indent="0">
              <a:buNone/>
              <a:defRPr sz="1968">
                <a:solidFill>
                  <a:schemeClr val="tx1">
                    <a:tint val="82000"/>
                  </a:schemeClr>
                </a:solidFill>
              </a:defRPr>
            </a:lvl2pPr>
            <a:lvl3pPr marL="899952" indent="0">
              <a:buNone/>
              <a:defRPr sz="1772">
                <a:solidFill>
                  <a:schemeClr val="tx1">
                    <a:tint val="82000"/>
                  </a:schemeClr>
                </a:solidFill>
              </a:defRPr>
            </a:lvl3pPr>
            <a:lvl4pPr marL="1349929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4pPr>
            <a:lvl5pPr marL="1799905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5pPr>
            <a:lvl6pPr marL="2249881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6pPr>
            <a:lvl7pPr marL="2699857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7pPr>
            <a:lvl8pPr marL="3149834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8pPr>
            <a:lvl9pPr marL="3599810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221F-0904-42F1-9A6F-9B71460ACC1C}" type="datetimeFigureOut">
              <a:rPr lang="ca-ES" smtClean="0"/>
              <a:t>30/11/2025</a:t>
            </a:fld>
            <a:endParaRPr lang="ca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A9090-D38B-4D40-95F8-A1F828B0A0A7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205556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718" y="2395710"/>
            <a:ext cx="3824804" cy="571012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016" y="2395710"/>
            <a:ext cx="3824804" cy="571012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221F-0904-42F1-9A6F-9B71460ACC1C}" type="datetimeFigureOut">
              <a:rPr lang="ca-ES" smtClean="0"/>
              <a:t>30/11/2025</a:t>
            </a:fld>
            <a:endParaRPr lang="ca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A9090-D38B-4D40-95F8-A1F828B0A0A7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602657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0" y="479144"/>
            <a:ext cx="7762102" cy="173949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9891" y="2206137"/>
            <a:ext cx="3807226" cy="1081194"/>
          </a:xfrm>
        </p:spPr>
        <p:txBody>
          <a:bodyPr anchor="b"/>
          <a:lstStyle>
            <a:lvl1pPr marL="0" indent="0">
              <a:buNone/>
              <a:defRPr sz="2362" b="1"/>
            </a:lvl1pPr>
            <a:lvl2pPr marL="449976" indent="0">
              <a:buNone/>
              <a:defRPr sz="1968" b="1"/>
            </a:lvl2pPr>
            <a:lvl3pPr marL="899952" indent="0">
              <a:buNone/>
              <a:defRPr sz="1772" b="1"/>
            </a:lvl3pPr>
            <a:lvl4pPr marL="1349929" indent="0">
              <a:buNone/>
              <a:defRPr sz="1575" b="1"/>
            </a:lvl4pPr>
            <a:lvl5pPr marL="1799905" indent="0">
              <a:buNone/>
              <a:defRPr sz="1575" b="1"/>
            </a:lvl5pPr>
            <a:lvl6pPr marL="2249881" indent="0">
              <a:buNone/>
              <a:defRPr sz="1575" b="1"/>
            </a:lvl6pPr>
            <a:lvl7pPr marL="2699857" indent="0">
              <a:buNone/>
              <a:defRPr sz="1575" b="1"/>
            </a:lvl7pPr>
            <a:lvl8pPr marL="3149834" indent="0">
              <a:buNone/>
              <a:defRPr sz="1575" b="1"/>
            </a:lvl8pPr>
            <a:lvl9pPr marL="3599810" indent="0">
              <a:buNone/>
              <a:defRPr sz="1575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891" y="3287331"/>
            <a:ext cx="3807226" cy="483516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6017" y="2206137"/>
            <a:ext cx="3825976" cy="1081194"/>
          </a:xfrm>
        </p:spPr>
        <p:txBody>
          <a:bodyPr anchor="b"/>
          <a:lstStyle>
            <a:lvl1pPr marL="0" indent="0">
              <a:buNone/>
              <a:defRPr sz="2362" b="1"/>
            </a:lvl1pPr>
            <a:lvl2pPr marL="449976" indent="0">
              <a:buNone/>
              <a:defRPr sz="1968" b="1"/>
            </a:lvl2pPr>
            <a:lvl3pPr marL="899952" indent="0">
              <a:buNone/>
              <a:defRPr sz="1772" b="1"/>
            </a:lvl3pPr>
            <a:lvl4pPr marL="1349929" indent="0">
              <a:buNone/>
              <a:defRPr sz="1575" b="1"/>
            </a:lvl4pPr>
            <a:lvl5pPr marL="1799905" indent="0">
              <a:buNone/>
              <a:defRPr sz="1575" b="1"/>
            </a:lvl5pPr>
            <a:lvl6pPr marL="2249881" indent="0">
              <a:buNone/>
              <a:defRPr sz="1575" b="1"/>
            </a:lvl6pPr>
            <a:lvl7pPr marL="2699857" indent="0">
              <a:buNone/>
              <a:defRPr sz="1575" b="1"/>
            </a:lvl7pPr>
            <a:lvl8pPr marL="3149834" indent="0">
              <a:buNone/>
              <a:defRPr sz="1575" b="1"/>
            </a:lvl8pPr>
            <a:lvl9pPr marL="3599810" indent="0">
              <a:buNone/>
              <a:defRPr sz="1575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6017" y="3287331"/>
            <a:ext cx="3825976" cy="483516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221F-0904-42F1-9A6F-9B71460ACC1C}" type="datetimeFigureOut">
              <a:rPr lang="ca-ES" smtClean="0"/>
              <a:t>30/11/2025</a:t>
            </a:fld>
            <a:endParaRPr lang="ca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A9090-D38B-4D40-95F8-A1F828B0A0A7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389779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221F-0904-42F1-9A6F-9B71460ACC1C}" type="datetimeFigureOut">
              <a:rPr lang="ca-ES" smtClean="0"/>
              <a:t>30/11/2025</a:t>
            </a:fld>
            <a:endParaRPr lang="ca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A9090-D38B-4D40-95F8-A1F828B0A0A7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55393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221F-0904-42F1-9A6F-9B71460ACC1C}" type="datetimeFigureOut">
              <a:rPr lang="ca-ES" smtClean="0"/>
              <a:t>30/11/2025</a:t>
            </a:fld>
            <a:endParaRPr lang="ca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A9090-D38B-4D40-95F8-A1F828B0A0A7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793850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599969"/>
            <a:ext cx="2902585" cy="2099892"/>
          </a:xfrm>
        </p:spPr>
        <p:txBody>
          <a:bodyPr anchor="b"/>
          <a:lstStyle>
            <a:lvl1pPr>
              <a:defRPr sz="314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976" y="1295769"/>
            <a:ext cx="4556016" cy="6395505"/>
          </a:xfrm>
        </p:spPr>
        <p:txBody>
          <a:bodyPr/>
          <a:lstStyle>
            <a:lvl1pPr>
              <a:defRPr sz="3149"/>
            </a:lvl1pPr>
            <a:lvl2pPr>
              <a:defRPr sz="2756"/>
            </a:lvl2pPr>
            <a:lvl3pPr>
              <a:defRPr sz="2362"/>
            </a:lvl3pPr>
            <a:lvl4pPr>
              <a:defRPr sz="1968"/>
            </a:lvl4pPr>
            <a:lvl5pPr>
              <a:defRPr sz="1968"/>
            </a:lvl5pPr>
            <a:lvl6pPr>
              <a:defRPr sz="1968"/>
            </a:lvl6pPr>
            <a:lvl7pPr>
              <a:defRPr sz="1968"/>
            </a:lvl7pPr>
            <a:lvl8pPr>
              <a:defRPr sz="1968"/>
            </a:lvl8pPr>
            <a:lvl9pPr>
              <a:defRPr sz="1968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2699862"/>
            <a:ext cx="2902585" cy="5001827"/>
          </a:xfrm>
        </p:spPr>
        <p:txBody>
          <a:bodyPr/>
          <a:lstStyle>
            <a:lvl1pPr marL="0" indent="0">
              <a:buNone/>
              <a:defRPr sz="1575"/>
            </a:lvl1pPr>
            <a:lvl2pPr marL="449976" indent="0">
              <a:buNone/>
              <a:defRPr sz="1378"/>
            </a:lvl2pPr>
            <a:lvl3pPr marL="899952" indent="0">
              <a:buNone/>
              <a:defRPr sz="1181"/>
            </a:lvl3pPr>
            <a:lvl4pPr marL="1349929" indent="0">
              <a:buNone/>
              <a:defRPr sz="984"/>
            </a:lvl4pPr>
            <a:lvl5pPr marL="1799905" indent="0">
              <a:buNone/>
              <a:defRPr sz="984"/>
            </a:lvl5pPr>
            <a:lvl6pPr marL="2249881" indent="0">
              <a:buNone/>
              <a:defRPr sz="984"/>
            </a:lvl6pPr>
            <a:lvl7pPr marL="2699857" indent="0">
              <a:buNone/>
              <a:defRPr sz="984"/>
            </a:lvl7pPr>
            <a:lvl8pPr marL="3149834" indent="0">
              <a:buNone/>
              <a:defRPr sz="984"/>
            </a:lvl8pPr>
            <a:lvl9pPr marL="3599810" indent="0">
              <a:buNone/>
              <a:defRPr sz="98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221F-0904-42F1-9A6F-9B71460ACC1C}" type="datetimeFigureOut">
              <a:rPr lang="ca-ES" smtClean="0"/>
              <a:t>30/11/2025</a:t>
            </a:fld>
            <a:endParaRPr lang="ca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A9090-D38B-4D40-95F8-A1F828B0A0A7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588628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599969"/>
            <a:ext cx="2902585" cy="2099892"/>
          </a:xfrm>
        </p:spPr>
        <p:txBody>
          <a:bodyPr anchor="b"/>
          <a:lstStyle>
            <a:lvl1pPr>
              <a:defRPr sz="314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25976" y="1295769"/>
            <a:ext cx="4556016" cy="6395505"/>
          </a:xfrm>
        </p:spPr>
        <p:txBody>
          <a:bodyPr anchor="t"/>
          <a:lstStyle>
            <a:lvl1pPr marL="0" indent="0">
              <a:buNone/>
              <a:defRPr sz="3149"/>
            </a:lvl1pPr>
            <a:lvl2pPr marL="449976" indent="0">
              <a:buNone/>
              <a:defRPr sz="2756"/>
            </a:lvl2pPr>
            <a:lvl3pPr marL="899952" indent="0">
              <a:buNone/>
              <a:defRPr sz="2362"/>
            </a:lvl3pPr>
            <a:lvl4pPr marL="1349929" indent="0">
              <a:buNone/>
              <a:defRPr sz="1968"/>
            </a:lvl4pPr>
            <a:lvl5pPr marL="1799905" indent="0">
              <a:buNone/>
              <a:defRPr sz="1968"/>
            </a:lvl5pPr>
            <a:lvl6pPr marL="2249881" indent="0">
              <a:buNone/>
              <a:defRPr sz="1968"/>
            </a:lvl6pPr>
            <a:lvl7pPr marL="2699857" indent="0">
              <a:buNone/>
              <a:defRPr sz="1968"/>
            </a:lvl7pPr>
            <a:lvl8pPr marL="3149834" indent="0">
              <a:buNone/>
              <a:defRPr sz="1968"/>
            </a:lvl8pPr>
            <a:lvl9pPr marL="3599810" indent="0">
              <a:buNone/>
              <a:defRPr sz="1968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2699862"/>
            <a:ext cx="2902585" cy="5001827"/>
          </a:xfrm>
        </p:spPr>
        <p:txBody>
          <a:bodyPr/>
          <a:lstStyle>
            <a:lvl1pPr marL="0" indent="0">
              <a:buNone/>
              <a:defRPr sz="1575"/>
            </a:lvl1pPr>
            <a:lvl2pPr marL="449976" indent="0">
              <a:buNone/>
              <a:defRPr sz="1378"/>
            </a:lvl2pPr>
            <a:lvl3pPr marL="899952" indent="0">
              <a:buNone/>
              <a:defRPr sz="1181"/>
            </a:lvl3pPr>
            <a:lvl4pPr marL="1349929" indent="0">
              <a:buNone/>
              <a:defRPr sz="984"/>
            </a:lvl4pPr>
            <a:lvl5pPr marL="1799905" indent="0">
              <a:buNone/>
              <a:defRPr sz="984"/>
            </a:lvl5pPr>
            <a:lvl6pPr marL="2249881" indent="0">
              <a:buNone/>
              <a:defRPr sz="984"/>
            </a:lvl6pPr>
            <a:lvl7pPr marL="2699857" indent="0">
              <a:buNone/>
              <a:defRPr sz="984"/>
            </a:lvl7pPr>
            <a:lvl8pPr marL="3149834" indent="0">
              <a:buNone/>
              <a:defRPr sz="984"/>
            </a:lvl8pPr>
            <a:lvl9pPr marL="3599810" indent="0">
              <a:buNone/>
              <a:defRPr sz="98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221F-0904-42F1-9A6F-9B71460ACC1C}" type="datetimeFigureOut">
              <a:rPr lang="ca-ES" smtClean="0"/>
              <a:t>30/11/2025</a:t>
            </a:fld>
            <a:endParaRPr lang="ca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A9090-D38B-4D40-95F8-A1F828B0A0A7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200062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221F-0904-42F1-9A6F-9B71460ACC1C}" type="datetimeFigureOut">
              <a:rPr lang="ca-ES" smtClean="0"/>
              <a:t>30/11/2025</a:t>
            </a:fld>
            <a:endParaRPr lang="ca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A9090-D38B-4D40-95F8-A1F828B0A0A7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826710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0295" y="479142"/>
            <a:ext cx="1940525" cy="7626692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8719" y="479142"/>
            <a:ext cx="5709082" cy="7626692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221F-0904-42F1-9A6F-9B71460ACC1C}" type="datetimeFigureOut">
              <a:rPr lang="ca-ES" smtClean="0"/>
              <a:t>30/11/2025</a:t>
            </a:fld>
            <a:endParaRPr lang="ca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A9090-D38B-4D40-95F8-A1F828B0A0A7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79371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718" y="479144"/>
            <a:ext cx="7762102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718" y="2395710"/>
            <a:ext cx="7762102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8718" y="8341240"/>
            <a:ext cx="2024896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8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03221F-0904-42F1-9A6F-9B71460ACC1C}" type="datetimeFigureOut">
              <a:rPr lang="ca-ES" smtClean="0"/>
              <a:t>30/11/2025</a:t>
            </a:fld>
            <a:endParaRPr lang="ca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1097" y="8341240"/>
            <a:ext cx="3037344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8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a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55924" y="8341240"/>
            <a:ext cx="2024896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8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A9090-D38B-4D40-95F8-A1F828B0A0A7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388288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899952" rtl="0" eaLnBrk="1" latinLnBrk="0" hangingPunct="1">
        <a:lnSpc>
          <a:spcPct val="90000"/>
        </a:lnSpc>
        <a:spcBef>
          <a:spcPct val="0"/>
        </a:spcBef>
        <a:buNone/>
        <a:defRPr sz="43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988" indent="-224988" algn="l" defTabSz="899952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2756" kern="1200">
          <a:solidFill>
            <a:schemeClr val="tx1"/>
          </a:solidFill>
          <a:latin typeface="+mn-lt"/>
          <a:ea typeface="+mn-ea"/>
          <a:cs typeface="+mn-cs"/>
        </a:defRPr>
      </a:lvl1pPr>
      <a:lvl2pPr marL="674964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2pPr>
      <a:lvl3pPr marL="1124941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968" kern="1200">
          <a:solidFill>
            <a:schemeClr val="tx1"/>
          </a:solidFill>
          <a:latin typeface="+mn-lt"/>
          <a:ea typeface="+mn-ea"/>
          <a:cs typeface="+mn-cs"/>
        </a:defRPr>
      </a:lvl3pPr>
      <a:lvl4pPr marL="1574917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4pPr>
      <a:lvl5pPr marL="2024893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5pPr>
      <a:lvl6pPr marL="2474869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6pPr>
      <a:lvl7pPr marL="2924846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7pPr>
      <a:lvl8pPr marL="3374822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8pPr>
      <a:lvl9pPr marL="3824798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1pPr>
      <a:lvl2pPr marL="449976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2pPr>
      <a:lvl3pPr marL="899952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3pPr>
      <a:lvl4pPr marL="1349929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4pPr>
      <a:lvl5pPr marL="1799905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5pPr>
      <a:lvl6pPr marL="2249881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6pPr>
      <a:lvl7pPr marL="2699857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7pPr>
      <a:lvl8pPr marL="3149834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8pPr>
      <a:lvl9pPr marL="3599810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niversaldependencies.org/" TargetMode="External"/><Relationship Id="rId2" Type="http://schemas.openxmlformats.org/officeDocument/2006/relationships/hyperlink" Target="https://gitlab.com/dikonov/Universal-Dictionary-of-Concepts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statmt.org/europarl/" TargetMode="External"/><Relationship Id="rId4" Type="http://schemas.openxmlformats.org/officeDocument/2006/relationships/hyperlink" Target="https://nlp.lsi.upc.edu/freeling/node/1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8C4BA8-4AB2-4073-7D7C-832371838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4965" y="378560"/>
            <a:ext cx="7649607" cy="1929925"/>
          </a:xfrm>
        </p:spPr>
        <p:txBody>
          <a:bodyPr/>
          <a:lstStyle/>
          <a:p>
            <a:r>
              <a:rPr lang="en-US" noProof="0" dirty="0"/>
              <a:t>A Bilingual Model For English And Spanish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79A11FC-BF2A-C235-00A7-4B496047AA03}"/>
              </a:ext>
            </a:extLst>
          </p:cNvPr>
          <p:cNvSpPr txBox="1"/>
          <p:nvPr/>
        </p:nvSpPr>
        <p:spPr>
          <a:xfrm>
            <a:off x="674964" y="2638268"/>
            <a:ext cx="764960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We want to create a translator from English to Spanish and vice-versa using pre-embedding technology. </a:t>
            </a:r>
            <a:r>
              <a:rPr lang="en-US" dirty="0"/>
              <a:t>The structure of the translation process will be the one indicated in the next slide, based on </a:t>
            </a:r>
            <a:r>
              <a:rPr lang="en-US" dirty="0" err="1"/>
              <a:t>Vauquois</a:t>
            </a:r>
            <a:r>
              <a:rPr lang="en-US" dirty="0"/>
              <a:t> Triangle.</a:t>
            </a:r>
          </a:p>
          <a:p>
            <a:endParaRPr lang="en-US" noProof="0" dirty="0"/>
          </a:p>
          <a:p>
            <a:r>
              <a:rPr lang="en-US" dirty="0"/>
              <a:t>In particular, we will use these databases and tools: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Universal Dictionary of Concepts: </a:t>
            </a:r>
            <a:r>
              <a:rPr lang="en-US" dirty="0">
                <a:hlinkClick r:id="rId2"/>
              </a:rPr>
              <a:t>https://gitlab.com/dikonov/Universal-Dictionary-of-Concepts</a:t>
            </a:r>
            <a:r>
              <a:rPr lang="en-US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Parallel </a:t>
            </a:r>
            <a:r>
              <a:rPr lang="en-US" dirty="0"/>
              <a:t>Universal Dependencies: </a:t>
            </a:r>
            <a:r>
              <a:rPr lang="en-US" dirty="0">
                <a:hlinkClick r:id="rId3"/>
              </a:rPr>
              <a:t>https://universaldependencies.org/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Freeling: </a:t>
            </a:r>
            <a:r>
              <a:rPr lang="en-US" dirty="0">
                <a:hlinkClick r:id="rId4"/>
              </a:rPr>
              <a:t>https://nlp.lsi.upc.edu/freeling/node/1</a:t>
            </a:r>
            <a:r>
              <a:rPr lang="en-US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European </a:t>
            </a:r>
            <a:r>
              <a:rPr lang="en-US" dirty="0"/>
              <a:t>Parliament Parallel Corpus: </a:t>
            </a:r>
            <a:r>
              <a:rPr lang="en-US" dirty="0">
                <a:hlinkClick r:id="rId5"/>
              </a:rPr>
              <a:t>https://www.statmt.org/europarl/</a:t>
            </a:r>
            <a:r>
              <a:rPr lang="en-US" dirty="0"/>
              <a:t> 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91007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>
            <a:extLst>
              <a:ext uri="{FF2B5EF4-FFF2-40B4-BE49-F238E27FC236}">
                <a16:creationId xmlns:a16="http://schemas.microsoft.com/office/drawing/2014/main" id="{D843396A-39A8-B9D2-3CE2-7C0B47AB6977}"/>
              </a:ext>
            </a:extLst>
          </p:cNvPr>
          <p:cNvSpPr/>
          <p:nvPr/>
        </p:nvSpPr>
        <p:spPr>
          <a:xfrm>
            <a:off x="438307" y="5911846"/>
            <a:ext cx="1210846" cy="111267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Raw text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6A26DC81-6B5F-5335-FC3E-5997387D34EF}"/>
              </a:ext>
            </a:extLst>
          </p:cNvPr>
          <p:cNvSpPr/>
          <p:nvPr/>
        </p:nvSpPr>
        <p:spPr>
          <a:xfrm>
            <a:off x="2146183" y="2650736"/>
            <a:ext cx="1496126" cy="111267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Syntactic structure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CBF68A12-A704-C90C-0C35-4176B2E049A5}"/>
              </a:ext>
            </a:extLst>
          </p:cNvPr>
          <p:cNvSpPr/>
          <p:nvPr/>
        </p:nvSpPr>
        <p:spPr>
          <a:xfrm>
            <a:off x="1248390" y="4410227"/>
            <a:ext cx="1501646" cy="87759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Word structure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0FA90010-24D4-0D03-5A1B-B705F66F1F60}"/>
              </a:ext>
            </a:extLst>
          </p:cNvPr>
          <p:cNvSpPr/>
          <p:nvPr/>
        </p:nvSpPr>
        <p:spPr>
          <a:xfrm>
            <a:off x="3413700" y="1119442"/>
            <a:ext cx="2121709" cy="140254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Interlingua</a:t>
            </a:r>
          </a:p>
          <a:p>
            <a:pPr algn="ctr"/>
            <a:endParaRPr lang="en-US" sz="1600" dirty="0">
              <a:solidFill>
                <a:sysClr val="windowText" lastClr="000000"/>
              </a:solidFill>
            </a:endParaRPr>
          </a:p>
          <a:p>
            <a:pPr algn="ctr"/>
            <a:endParaRPr 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12" name="Diagrama de flujo: disco magnético 11">
            <a:extLst>
              <a:ext uri="{FF2B5EF4-FFF2-40B4-BE49-F238E27FC236}">
                <a16:creationId xmlns:a16="http://schemas.microsoft.com/office/drawing/2014/main" id="{A9C89B36-FDFC-2F49-D10F-9BAEC08DC6D9}"/>
              </a:ext>
            </a:extLst>
          </p:cNvPr>
          <p:cNvSpPr/>
          <p:nvPr/>
        </p:nvSpPr>
        <p:spPr>
          <a:xfrm>
            <a:off x="3605571" y="3337652"/>
            <a:ext cx="1798875" cy="724831"/>
          </a:xfrm>
          <a:prstGeom prst="flowChartMagneticDisk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Parallel Universal Dependencies [2]</a:t>
            </a:r>
          </a:p>
        </p:txBody>
      </p:sp>
      <p:sp>
        <p:nvSpPr>
          <p:cNvPr id="13" name="Diagrama de flujo: disco magnético 12">
            <a:extLst>
              <a:ext uri="{FF2B5EF4-FFF2-40B4-BE49-F238E27FC236}">
                <a16:creationId xmlns:a16="http://schemas.microsoft.com/office/drawing/2014/main" id="{98937E88-D7C2-F83E-F2A3-87EBCBD356B4}"/>
              </a:ext>
            </a:extLst>
          </p:cNvPr>
          <p:cNvSpPr/>
          <p:nvPr/>
        </p:nvSpPr>
        <p:spPr>
          <a:xfrm>
            <a:off x="1210236" y="6654026"/>
            <a:ext cx="1104019" cy="1112671"/>
          </a:xfrm>
          <a:prstGeom prst="flowChartMagneticDisk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Europarl</a:t>
            </a:r>
          </a:p>
          <a:p>
            <a:pPr algn="ctr"/>
            <a:r>
              <a:rPr lang="en-US" sz="1400" dirty="0"/>
              <a:t>Parallel Corpus [4]  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6949C7C3-9E88-02AE-4FA8-D1905283807C}"/>
              </a:ext>
            </a:extLst>
          </p:cNvPr>
          <p:cNvCxnSpPr>
            <a:cxnSpLocks/>
          </p:cNvCxnSpPr>
          <p:nvPr/>
        </p:nvCxnSpPr>
        <p:spPr>
          <a:xfrm>
            <a:off x="3731895" y="3207071"/>
            <a:ext cx="1649730" cy="0"/>
          </a:xfrm>
          <a:prstGeom prst="straightConnector1">
            <a:avLst/>
          </a:prstGeom>
          <a:ln>
            <a:solidFill>
              <a:schemeClr val="accent6"/>
            </a:solidFill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Elipse 25">
            <a:extLst>
              <a:ext uri="{FF2B5EF4-FFF2-40B4-BE49-F238E27FC236}">
                <a16:creationId xmlns:a16="http://schemas.microsoft.com/office/drawing/2014/main" id="{5AC37A3F-8044-F235-0425-E7ADFA440119}"/>
              </a:ext>
            </a:extLst>
          </p:cNvPr>
          <p:cNvSpPr/>
          <p:nvPr/>
        </p:nvSpPr>
        <p:spPr>
          <a:xfrm>
            <a:off x="7101079" y="5911846"/>
            <a:ext cx="1210846" cy="111267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Raw text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608EA2F5-0B3E-D0A4-F7D5-2CF2E6A5937E}"/>
              </a:ext>
            </a:extLst>
          </p:cNvPr>
          <p:cNvSpPr/>
          <p:nvPr/>
        </p:nvSpPr>
        <p:spPr>
          <a:xfrm>
            <a:off x="6075006" y="4410227"/>
            <a:ext cx="1501646" cy="87759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Word structure</a:t>
            </a:r>
          </a:p>
        </p:txBody>
      </p:sp>
      <p:sp>
        <p:nvSpPr>
          <p:cNvPr id="29" name="Diagrama de flujo: disco magnético 28">
            <a:extLst>
              <a:ext uri="{FF2B5EF4-FFF2-40B4-BE49-F238E27FC236}">
                <a16:creationId xmlns:a16="http://schemas.microsoft.com/office/drawing/2014/main" id="{CD4D5960-CD71-202F-4F0C-A4630E1D0AF4}"/>
              </a:ext>
            </a:extLst>
          </p:cNvPr>
          <p:cNvSpPr/>
          <p:nvPr/>
        </p:nvSpPr>
        <p:spPr>
          <a:xfrm>
            <a:off x="6386509" y="6632234"/>
            <a:ext cx="1104019" cy="1112671"/>
          </a:xfrm>
          <a:prstGeom prst="flowChartMagneticDisk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Europarl</a:t>
            </a:r>
          </a:p>
          <a:p>
            <a:pPr algn="ctr"/>
            <a:r>
              <a:rPr lang="en-US" sz="1400" dirty="0"/>
              <a:t>Parallel Corpus [4]  </a:t>
            </a:r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0A5557E3-1361-4CAF-3A6A-C3E6F5FCB57B}"/>
              </a:ext>
            </a:extLst>
          </p:cNvPr>
          <p:cNvSpPr/>
          <p:nvPr/>
        </p:nvSpPr>
        <p:spPr>
          <a:xfrm>
            <a:off x="5442393" y="2650736"/>
            <a:ext cx="1496126" cy="111267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Syntactic structure</a:t>
            </a:r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6ED0E33B-A39D-A0C0-3A0A-6B19DABA0D52}"/>
              </a:ext>
            </a:extLst>
          </p:cNvPr>
          <p:cNvCxnSpPr>
            <a:cxnSpLocks/>
            <a:stCxn id="7" idx="6"/>
            <a:endCxn id="27" idx="2"/>
          </p:cNvCxnSpPr>
          <p:nvPr/>
        </p:nvCxnSpPr>
        <p:spPr>
          <a:xfrm>
            <a:off x="2750036" y="4849023"/>
            <a:ext cx="3324970" cy="0"/>
          </a:xfrm>
          <a:prstGeom prst="straightConnector1">
            <a:avLst/>
          </a:prstGeom>
          <a:ln>
            <a:solidFill>
              <a:schemeClr val="accent1"/>
            </a:solidFill>
            <a:headEnd type="triangle"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66D1B5CA-779B-4CF8-AD96-17D5E001C510}"/>
              </a:ext>
            </a:extLst>
          </p:cNvPr>
          <p:cNvSpPr txBox="1"/>
          <p:nvPr/>
        </p:nvSpPr>
        <p:spPr>
          <a:xfrm>
            <a:off x="4005464" y="4520746"/>
            <a:ext cx="739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b="1" dirty="0">
                <a:solidFill>
                  <a:schemeClr val="accent1"/>
                </a:solidFill>
              </a:rPr>
              <a:t>BLEU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5280BBCE-B2C8-A7DC-4033-148C98E98D7C}"/>
              </a:ext>
            </a:extLst>
          </p:cNvPr>
          <p:cNvSpPr txBox="1"/>
          <p:nvPr/>
        </p:nvSpPr>
        <p:spPr>
          <a:xfrm>
            <a:off x="3767921" y="4872979"/>
            <a:ext cx="1289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>
                <a:solidFill>
                  <a:schemeClr val="accent1"/>
                </a:solidFill>
              </a:rPr>
              <a:t>evaluation</a:t>
            </a:r>
          </a:p>
        </p:txBody>
      </p:sp>
      <p:sp>
        <p:nvSpPr>
          <p:cNvPr id="43" name="Diagrama de flujo: disco magnético 42">
            <a:extLst>
              <a:ext uri="{FF2B5EF4-FFF2-40B4-BE49-F238E27FC236}">
                <a16:creationId xmlns:a16="http://schemas.microsoft.com/office/drawing/2014/main" id="{2E36A2C9-6168-414A-40D5-FFC2A8348A4F}"/>
              </a:ext>
            </a:extLst>
          </p:cNvPr>
          <p:cNvSpPr/>
          <p:nvPr/>
        </p:nvSpPr>
        <p:spPr>
          <a:xfrm>
            <a:off x="3618811" y="1837143"/>
            <a:ext cx="1798875" cy="724831"/>
          </a:xfrm>
          <a:prstGeom prst="flowChartMagneticDisk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Universal Dictionary of Concepts [1]</a:t>
            </a:r>
          </a:p>
        </p:txBody>
      </p: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B9530B87-B2DD-A01B-8CE3-7657A0C7A6A0}"/>
              </a:ext>
            </a:extLst>
          </p:cNvPr>
          <p:cNvCxnSpPr>
            <a:cxnSpLocks/>
          </p:cNvCxnSpPr>
          <p:nvPr/>
        </p:nvCxnSpPr>
        <p:spPr>
          <a:xfrm flipV="1">
            <a:off x="2260366" y="3730845"/>
            <a:ext cx="388339" cy="663275"/>
          </a:xfrm>
          <a:prstGeom prst="straightConnector1">
            <a:avLst/>
          </a:prstGeom>
          <a:ln>
            <a:solidFill>
              <a:schemeClr val="accent6"/>
            </a:solidFill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333255CF-42BC-25AB-349F-C36EAEA23168}"/>
              </a:ext>
            </a:extLst>
          </p:cNvPr>
          <p:cNvCxnSpPr>
            <a:cxnSpLocks/>
          </p:cNvCxnSpPr>
          <p:nvPr/>
        </p:nvCxnSpPr>
        <p:spPr>
          <a:xfrm flipV="1">
            <a:off x="3112749" y="2199558"/>
            <a:ext cx="388339" cy="421263"/>
          </a:xfrm>
          <a:prstGeom prst="straightConnector1">
            <a:avLst/>
          </a:prstGeom>
          <a:ln>
            <a:solidFill>
              <a:schemeClr val="accent6"/>
            </a:solidFill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Conector recto de flecha 53">
            <a:extLst>
              <a:ext uri="{FF2B5EF4-FFF2-40B4-BE49-F238E27FC236}">
                <a16:creationId xmlns:a16="http://schemas.microsoft.com/office/drawing/2014/main" id="{159C5D9F-A769-BD64-E9B0-F60DA617677A}"/>
              </a:ext>
            </a:extLst>
          </p:cNvPr>
          <p:cNvCxnSpPr>
            <a:cxnSpLocks/>
          </p:cNvCxnSpPr>
          <p:nvPr/>
        </p:nvCxnSpPr>
        <p:spPr>
          <a:xfrm>
            <a:off x="5619935" y="2082800"/>
            <a:ext cx="303345" cy="531605"/>
          </a:xfrm>
          <a:prstGeom prst="straightConnector1">
            <a:avLst/>
          </a:prstGeom>
          <a:ln>
            <a:solidFill>
              <a:schemeClr val="accent6"/>
            </a:solidFill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B7EEFEF8-79E2-1668-9966-9200C246D28D}"/>
              </a:ext>
            </a:extLst>
          </p:cNvPr>
          <p:cNvCxnSpPr>
            <a:cxnSpLocks/>
          </p:cNvCxnSpPr>
          <p:nvPr/>
        </p:nvCxnSpPr>
        <p:spPr>
          <a:xfrm>
            <a:off x="6493074" y="3786199"/>
            <a:ext cx="151673" cy="545144"/>
          </a:xfrm>
          <a:prstGeom prst="straightConnector1">
            <a:avLst/>
          </a:prstGeom>
          <a:ln>
            <a:solidFill>
              <a:schemeClr val="accent6"/>
            </a:solidFill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1B4529E9-74FD-E6C6-BB4D-67599E496574}"/>
              </a:ext>
            </a:extLst>
          </p:cNvPr>
          <p:cNvCxnSpPr>
            <a:cxnSpLocks/>
          </p:cNvCxnSpPr>
          <p:nvPr/>
        </p:nvCxnSpPr>
        <p:spPr>
          <a:xfrm flipH="1" flipV="1">
            <a:off x="7281106" y="5271363"/>
            <a:ext cx="214121" cy="514935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Conector recto de flecha 67">
            <a:extLst>
              <a:ext uri="{FF2B5EF4-FFF2-40B4-BE49-F238E27FC236}">
                <a16:creationId xmlns:a16="http://schemas.microsoft.com/office/drawing/2014/main" id="{FA8ACA22-BDE8-E00C-9EBB-8C91588F317D}"/>
              </a:ext>
            </a:extLst>
          </p:cNvPr>
          <p:cNvCxnSpPr>
            <a:cxnSpLocks/>
          </p:cNvCxnSpPr>
          <p:nvPr/>
        </p:nvCxnSpPr>
        <p:spPr>
          <a:xfrm>
            <a:off x="7025242" y="5330428"/>
            <a:ext cx="255864" cy="604210"/>
          </a:xfrm>
          <a:prstGeom prst="straightConnector1">
            <a:avLst/>
          </a:prstGeom>
          <a:ln>
            <a:solidFill>
              <a:schemeClr val="accent6"/>
            </a:solidFill>
            <a:prstDash val="dash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Conector recto de flecha 69">
            <a:extLst>
              <a:ext uri="{FF2B5EF4-FFF2-40B4-BE49-F238E27FC236}">
                <a16:creationId xmlns:a16="http://schemas.microsoft.com/office/drawing/2014/main" id="{3C00CE3E-3025-BAF2-8CB6-9699174FB894}"/>
              </a:ext>
            </a:extLst>
          </p:cNvPr>
          <p:cNvCxnSpPr>
            <a:cxnSpLocks/>
          </p:cNvCxnSpPr>
          <p:nvPr/>
        </p:nvCxnSpPr>
        <p:spPr>
          <a:xfrm flipV="1">
            <a:off x="1359469" y="5271363"/>
            <a:ext cx="289684" cy="588889"/>
          </a:xfrm>
          <a:prstGeom prst="straightConnector1">
            <a:avLst/>
          </a:prstGeom>
          <a:ln>
            <a:solidFill>
              <a:schemeClr val="accent6"/>
            </a:solidFill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Hexágono 75">
            <a:extLst>
              <a:ext uri="{FF2B5EF4-FFF2-40B4-BE49-F238E27FC236}">
                <a16:creationId xmlns:a16="http://schemas.microsoft.com/office/drawing/2014/main" id="{835CB783-D7B6-D7B6-AD34-55494B66FB43}"/>
              </a:ext>
            </a:extLst>
          </p:cNvPr>
          <p:cNvSpPr/>
          <p:nvPr/>
        </p:nvSpPr>
        <p:spPr>
          <a:xfrm>
            <a:off x="687964" y="5230751"/>
            <a:ext cx="678604" cy="540834"/>
          </a:xfrm>
          <a:prstGeom prst="hexagon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sz="1200" dirty="0"/>
              <a:t>free ling</a:t>
            </a:r>
          </a:p>
        </p:txBody>
      </p:sp>
      <p:sp>
        <p:nvSpPr>
          <p:cNvPr id="78" name="Hexágono 77">
            <a:extLst>
              <a:ext uri="{FF2B5EF4-FFF2-40B4-BE49-F238E27FC236}">
                <a16:creationId xmlns:a16="http://schemas.microsoft.com/office/drawing/2014/main" id="{A8DC7968-FBFC-99E7-E309-E91816B0EF93}"/>
              </a:ext>
            </a:extLst>
          </p:cNvPr>
          <p:cNvSpPr/>
          <p:nvPr/>
        </p:nvSpPr>
        <p:spPr>
          <a:xfrm>
            <a:off x="7536970" y="5206959"/>
            <a:ext cx="678604" cy="540834"/>
          </a:xfrm>
          <a:prstGeom prst="hexag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sz="1200" dirty="0">
                <a:solidFill>
                  <a:sysClr val="windowText" lastClr="000000"/>
                </a:solidFill>
              </a:rPr>
              <a:t>free ling</a:t>
            </a:r>
          </a:p>
        </p:txBody>
      </p:sp>
      <p:cxnSp>
        <p:nvCxnSpPr>
          <p:cNvPr id="80" name="Conector recto de flecha 79">
            <a:extLst>
              <a:ext uri="{FF2B5EF4-FFF2-40B4-BE49-F238E27FC236}">
                <a16:creationId xmlns:a16="http://schemas.microsoft.com/office/drawing/2014/main" id="{44D91339-7253-EB6F-62CC-20A6E254EE66}"/>
              </a:ext>
            </a:extLst>
          </p:cNvPr>
          <p:cNvCxnSpPr>
            <a:cxnSpLocks/>
            <a:stCxn id="4" idx="6"/>
            <a:endCxn id="26" idx="2"/>
          </p:cNvCxnSpPr>
          <p:nvPr/>
        </p:nvCxnSpPr>
        <p:spPr>
          <a:xfrm>
            <a:off x="1649153" y="6468182"/>
            <a:ext cx="5451926" cy="0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CuadroTexto 80">
            <a:extLst>
              <a:ext uri="{FF2B5EF4-FFF2-40B4-BE49-F238E27FC236}">
                <a16:creationId xmlns:a16="http://schemas.microsoft.com/office/drawing/2014/main" id="{833F9C90-362C-47F6-47DD-9B787C7829BA}"/>
              </a:ext>
            </a:extLst>
          </p:cNvPr>
          <p:cNvSpPr txBox="1"/>
          <p:nvPr/>
        </p:nvSpPr>
        <p:spPr>
          <a:xfrm>
            <a:off x="3515281" y="6083249"/>
            <a:ext cx="2191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>
                <a:solidFill>
                  <a:schemeClr val="accent1"/>
                </a:solidFill>
              </a:rPr>
              <a:t>BLEU evaluation (?)</a:t>
            </a: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60D85AA4-BB77-2EE9-7E2A-F420A7BA0D30}"/>
              </a:ext>
            </a:extLst>
          </p:cNvPr>
          <p:cNvSpPr txBox="1"/>
          <p:nvPr/>
        </p:nvSpPr>
        <p:spPr>
          <a:xfrm>
            <a:off x="406059" y="5538919"/>
            <a:ext cx="3561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1200" dirty="0">
                <a:solidFill>
                  <a:schemeClr val="accent3"/>
                </a:solidFill>
              </a:rPr>
              <a:t>[3]</a:t>
            </a:r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EC5BDAE0-3005-C2CE-5493-4CF68C616D70}"/>
              </a:ext>
            </a:extLst>
          </p:cNvPr>
          <p:cNvSpPr txBox="1"/>
          <p:nvPr/>
        </p:nvSpPr>
        <p:spPr>
          <a:xfrm>
            <a:off x="6841720" y="5426810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1600" dirty="0">
                <a:solidFill>
                  <a:schemeClr val="accent3"/>
                </a:solidFill>
              </a:rPr>
              <a:t>?</a:t>
            </a: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9BE69B9E-64E6-68CD-81D9-3235A329D56F}"/>
              </a:ext>
            </a:extLst>
          </p:cNvPr>
          <p:cNvSpPr txBox="1"/>
          <p:nvPr/>
        </p:nvSpPr>
        <p:spPr>
          <a:xfrm>
            <a:off x="8079223" y="5561606"/>
            <a:ext cx="3561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1200" dirty="0"/>
              <a:t>[3]</a:t>
            </a: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211CB9C0-984F-EA2B-429A-6B07872532EF}"/>
              </a:ext>
            </a:extLst>
          </p:cNvPr>
          <p:cNvSpPr txBox="1"/>
          <p:nvPr/>
        </p:nvSpPr>
        <p:spPr>
          <a:xfrm>
            <a:off x="3600083" y="2898858"/>
            <a:ext cx="18283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>
                <a:solidFill>
                  <a:schemeClr val="accent3"/>
                </a:solidFill>
              </a:rPr>
              <a:t>probabilistic inferring</a:t>
            </a:r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DC4C2ED9-700B-A45D-3BDA-F90F46B55D14}"/>
              </a:ext>
            </a:extLst>
          </p:cNvPr>
          <p:cNvSpPr txBox="1"/>
          <p:nvPr/>
        </p:nvSpPr>
        <p:spPr>
          <a:xfrm>
            <a:off x="5737658" y="1998762"/>
            <a:ext cx="1217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noProof="0" dirty="0">
                <a:solidFill>
                  <a:schemeClr val="accent3"/>
                </a:solidFill>
              </a:rPr>
              <a:t>probabilistic inferring</a:t>
            </a:r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B761D4A5-128C-DDA3-7EFC-87DEB60FBE96}"/>
              </a:ext>
            </a:extLst>
          </p:cNvPr>
          <p:cNvSpPr txBox="1"/>
          <p:nvPr/>
        </p:nvSpPr>
        <p:spPr>
          <a:xfrm>
            <a:off x="2196358" y="2016912"/>
            <a:ext cx="1217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noProof="0" dirty="0">
                <a:solidFill>
                  <a:schemeClr val="accent3"/>
                </a:solidFill>
              </a:rPr>
              <a:t>probabilistic inferring</a:t>
            </a:r>
          </a:p>
        </p:txBody>
      </p:sp>
      <p:sp>
        <p:nvSpPr>
          <p:cNvPr id="91" name="CuadroTexto 90">
            <a:extLst>
              <a:ext uri="{FF2B5EF4-FFF2-40B4-BE49-F238E27FC236}">
                <a16:creationId xmlns:a16="http://schemas.microsoft.com/office/drawing/2014/main" id="{B41CAAAF-D516-39B3-76CA-A6E31BC5D815}"/>
              </a:ext>
            </a:extLst>
          </p:cNvPr>
          <p:cNvSpPr txBox="1"/>
          <p:nvPr/>
        </p:nvSpPr>
        <p:spPr>
          <a:xfrm>
            <a:off x="1248390" y="3714738"/>
            <a:ext cx="1217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noProof="0" dirty="0">
                <a:solidFill>
                  <a:schemeClr val="accent3"/>
                </a:solidFill>
              </a:rPr>
              <a:t>probabilistic inferring</a:t>
            </a:r>
          </a:p>
        </p:txBody>
      </p:sp>
      <p:sp>
        <p:nvSpPr>
          <p:cNvPr id="92" name="CuadroTexto 91">
            <a:extLst>
              <a:ext uri="{FF2B5EF4-FFF2-40B4-BE49-F238E27FC236}">
                <a16:creationId xmlns:a16="http://schemas.microsoft.com/office/drawing/2014/main" id="{32DAC281-8D93-1207-45B6-7194B6537226}"/>
              </a:ext>
            </a:extLst>
          </p:cNvPr>
          <p:cNvSpPr txBox="1"/>
          <p:nvPr/>
        </p:nvSpPr>
        <p:spPr>
          <a:xfrm>
            <a:off x="6516033" y="3722954"/>
            <a:ext cx="1217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noProof="0" dirty="0">
                <a:solidFill>
                  <a:schemeClr val="accent3"/>
                </a:solidFill>
              </a:rPr>
              <a:t>probabilistic inferring</a:t>
            </a:r>
          </a:p>
        </p:txBody>
      </p:sp>
    </p:spTree>
    <p:extLst>
      <p:ext uri="{BB962C8B-B14F-4D97-AF65-F5344CB8AC3E}">
        <p14:creationId xmlns:p14="http://schemas.microsoft.com/office/powerpoint/2010/main" val="34035726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4356</TotalTime>
  <Words>175</Words>
  <Application>Microsoft Office PowerPoint</Application>
  <PresentationFormat>Personalizado</PresentationFormat>
  <Paragraphs>34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A Bilingual Model For English And Spanish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amat lapeyra</dc:creator>
  <cp:lastModifiedBy>amat lapeyra</cp:lastModifiedBy>
  <cp:revision>3</cp:revision>
  <dcterms:created xsi:type="dcterms:W3CDTF">2025-11-20T15:30:18Z</dcterms:created>
  <dcterms:modified xsi:type="dcterms:W3CDTF">2025-12-03T14:48:57Z</dcterms:modified>
</cp:coreProperties>
</file>